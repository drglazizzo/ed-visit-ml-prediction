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B304-7352-82F7-1AC1-D53590FC3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7D8CD-31EE-132A-1C78-53FD46811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C69F9-4864-C9E5-3F0C-7C6EB2A6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122F1-2626-A06C-6AA0-94B42576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EFF4C-BAC4-3B1A-F38F-AE064F65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8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ACC3-80BE-4688-C2A5-F59519A5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D66F3-CC3C-EEF2-B071-C622FA5D6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27655-9524-11DB-8302-EE21F572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B5AD-598C-AD38-20B1-9EF45992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3A5E0-B4EB-D3FB-EC7E-D21EE645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6560-5BE5-A519-B097-20BAF557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8EB18-FFB5-2230-4782-7FCDCA8C9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FD095-16A5-3E93-2A02-6C6876263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08966-3604-8406-E423-C2B61101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DBAD9-387B-83D7-8A9A-4BB7D0CA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3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E1C9-F9FD-1268-6ECF-084ACC8C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33BD1-8E49-27EE-41A8-23BC94720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8C213-DB29-AD7B-E232-F516FBE8C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2AA94-0F8E-7EB7-D25C-5E5B1C94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969E9-54F3-C283-EED0-E7063274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6E10B-2154-D6A1-D5BF-2F7B47EC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7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A380-41CF-2DC8-25FF-4082A7AE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4341D-B3F8-ADD5-455E-AFB9FE7AF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C54AA-AC8E-DCF5-0322-09A6F984F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E2601B-D459-8D94-75C6-F9A4869DE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84B636-8885-AE1C-581E-9BC456313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5B6D3-90D6-85CB-8ED0-EF655DBF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765DA-7B95-8A03-F0E2-9C294CAE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01AC4-AD2F-696E-F216-385838CB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6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040F-84EA-FC4E-5BD8-7C36A4E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0A50C-15E3-0E89-D0B2-094F9772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197B2-B8D7-44FD-D891-36F068D2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3BABE-1E57-EC5E-9130-1918BEE3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9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C5A8A-CFAD-6A33-68BF-AA9AFB809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98987-BAA1-FFE4-0C1B-B7854231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C0C80-D6EF-3D8D-C8C5-EC4836F9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8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DCC0-FD70-29F3-F5FD-FC33EEA3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82FE-AAF7-4CB6-3BE5-E51B905C2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42E88-9FA8-EFBA-FA3C-5E6062D10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B2752-6443-BE99-67D8-061BD282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D7CC1-F437-E122-4ECC-9025F07B4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C3BA1-8A59-7347-F09D-22D7B28E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C6DC-D5A5-43F0-9566-94F15E92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C4250E-3712-BAF9-62F5-12D5EC5E3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6592A-A2CC-63A0-0E98-CBBA16CE0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B833-060E-9C05-2314-2D58C237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23391-19DC-A11A-F045-88C68748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AC3FE-653C-A827-0E1F-053C1B90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5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6257-BA9A-14D9-F0B1-F965DB5A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E177A-ECD7-DCEA-B9DC-5F8C51225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C860F-C67D-2E90-29FD-1D084E37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CD89-98E8-8E51-7F49-5B892187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0D606-02C1-6DB3-F160-62A9A36A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3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2F588-900B-D2DA-004F-7595A216F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1984F-25D9-7736-9E70-F52A0235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ED30-2818-01DA-3DD8-2E9BA5A0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95D6D-7E22-7AC4-D841-87D59A3A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8013D-CEC1-2301-C7F1-592232D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6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AA14F-D5F6-90B9-CF88-A0C321C6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6407A-0FF0-CE5B-5D71-1B5403709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70050-262E-03DB-EBB4-7A9BEA000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74740-C228-45F6-8F7D-F6B603E786E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FBEF2-1BE9-9FDF-6B67-1A4F8D2AA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5C231-4BFC-5DCD-826E-6BDFE4DAE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90EE1-6EE1-425E-96C0-5BB68993B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57BE88-26F6-BB46-10A7-06221411CA2B}"/>
              </a:ext>
            </a:extLst>
          </p:cNvPr>
          <p:cNvSpPr/>
          <p:nvPr/>
        </p:nvSpPr>
        <p:spPr>
          <a:xfrm>
            <a:off x="401213" y="335902"/>
            <a:ext cx="2789852" cy="9484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Data: MC-MED Dataset, 118,385 Adult ED Visits Between 2020-2022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A813FA-8994-B61A-2D82-DAEC4BCCAEB6}"/>
              </a:ext>
            </a:extLst>
          </p:cNvPr>
          <p:cNvSpPr/>
          <p:nvPr/>
        </p:nvSpPr>
        <p:spPr>
          <a:xfrm>
            <a:off x="8117633" y="1621822"/>
            <a:ext cx="3732231" cy="3666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11% (n= 12,020)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D41621-8F53-5DBC-A22E-1EB99FB0899C}"/>
              </a:ext>
            </a:extLst>
          </p:cNvPr>
          <p:cNvSpPr/>
          <p:nvPr/>
        </p:nvSpPr>
        <p:spPr>
          <a:xfrm>
            <a:off x="8117633" y="1114620"/>
            <a:ext cx="3732232" cy="3693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11% (n= 11,770)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50CF8B-D06B-3BB8-C604-6F6D20E0CB58}"/>
              </a:ext>
            </a:extLst>
          </p:cNvPr>
          <p:cNvSpPr/>
          <p:nvPr/>
        </p:nvSpPr>
        <p:spPr>
          <a:xfrm>
            <a:off x="8117635" y="636427"/>
            <a:ext cx="3750900" cy="3693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78% (n= 81,588)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F11767-4905-FEF3-D8AD-9AE85868E7BF}"/>
              </a:ext>
            </a:extLst>
          </p:cNvPr>
          <p:cNvSpPr/>
          <p:nvPr/>
        </p:nvSpPr>
        <p:spPr>
          <a:xfrm>
            <a:off x="3834881" y="2194821"/>
            <a:ext cx="2575249" cy="8277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Handling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1B3221-22A0-9DE7-5EDE-6C9877180712}"/>
              </a:ext>
            </a:extLst>
          </p:cNvPr>
          <p:cNvSpPr/>
          <p:nvPr/>
        </p:nvSpPr>
        <p:spPr>
          <a:xfrm>
            <a:off x="3834882" y="352232"/>
            <a:ext cx="2575249" cy="9470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Chronological Split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1F81E1-ECE4-285D-6CEC-7F8E6B909C17}"/>
              </a:ext>
            </a:extLst>
          </p:cNvPr>
          <p:cNvCxnSpPr>
            <a:cxnSpLocks/>
          </p:cNvCxnSpPr>
          <p:nvPr/>
        </p:nvCxnSpPr>
        <p:spPr>
          <a:xfrm>
            <a:off x="6410131" y="821092"/>
            <a:ext cx="5598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9DDF47-3335-5B62-F9E7-9707FBC79E60}"/>
              </a:ext>
            </a:extLst>
          </p:cNvPr>
          <p:cNvCxnSpPr>
            <a:cxnSpLocks/>
          </p:cNvCxnSpPr>
          <p:nvPr/>
        </p:nvCxnSpPr>
        <p:spPr>
          <a:xfrm>
            <a:off x="6969969" y="810110"/>
            <a:ext cx="0" cy="10309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BE477E-A16C-6EB1-FDC3-BD33EDB27566}"/>
              </a:ext>
            </a:extLst>
          </p:cNvPr>
          <p:cNvCxnSpPr>
            <a:cxnSpLocks/>
          </p:cNvCxnSpPr>
          <p:nvPr/>
        </p:nvCxnSpPr>
        <p:spPr>
          <a:xfrm>
            <a:off x="6969969" y="821093"/>
            <a:ext cx="11476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7519EE-AFE3-C12C-5814-5017882941BB}"/>
              </a:ext>
            </a:extLst>
          </p:cNvPr>
          <p:cNvCxnSpPr>
            <a:cxnSpLocks/>
          </p:cNvCxnSpPr>
          <p:nvPr/>
        </p:nvCxnSpPr>
        <p:spPr>
          <a:xfrm flipV="1">
            <a:off x="6960632" y="1325580"/>
            <a:ext cx="1157002" cy="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2AA1E3-0F80-FF4D-6394-056EF0A67AF1}"/>
              </a:ext>
            </a:extLst>
          </p:cNvPr>
          <p:cNvCxnSpPr>
            <a:cxnSpLocks/>
          </p:cNvCxnSpPr>
          <p:nvPr/>
        </p:nvCxnSpPr>
        <p:spPr>
          <a:xfrm>
            <a:off x="6969969" y="1841050"/>
            <a:ext cx="11476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A1EB83-59A2-BD89-9BEF-C14DE51A7215}"/>
              </a:ext>
            </a:extLst>
          </p:cNvPr>
          <p:cNvCxnSpPr>
            <a:cxnSpLocks/>
          </p:cNvCxnSpPr>
          <p:nvPr/>
        </p:nvCxnSpPr>
        <p:spPr>
          <a:xfrm>
            <a:off x="3191065" y="810110"/>
            <a:ext cx="6438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12C098-621D-7FF2-BA5B-F4F78698067E}"/>
              </a:ext>
            </a:extLst>
          </p:cNvPr>
          <p:cNvSpPr/>
          <p:nvPr/>
        </p:nvSpPr>
        <p:spPr>
          <a:xfrm>
            <a:off x="3788232" y="5440908"/>
            <a:ext cx="262189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Targets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54CCBD8-1B82-BD66-D5C3-32CC8529086E}"/>
              </a:ext>
            </a:extLst>
          </p:cNvPr>
          <p:cNvSpPr/>
          <p:nvPr/>
        </p:nvSpPr>
        <p:spPr>
          <a:xfrm>
            <a:off x="3788233" y="3760810"/>
            <a:ext cx="2621897" cy="11059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Separation- Remove ED-LOS, Hosp-LOS, disposition, and arrival time to prevent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leakage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DDF8ECE-8F3A-7AA7-7AB9-3FF37E1E333C}"/>
              </a:ext>
            </a:extLst>
          </p:cNvPr>
          <p:cNvSpPr/>
          <p:nvPr/>
        </p:nvSpPr>
        <p:spPr>
          <a:xfrm>
            <a:off x="7697755" y="3462091"/>
            <a:ext cx="4170779" cy="3284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Listwise deletion: Remove rows with missing target values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07B71B-B0B8-7E86-24A9-813D6BC5ACD9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flipH="1">
            <a:off x="5122506" y="1299286"/>
            <a:ext cx="1" cy="895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B89622-9DF9-D9D7-1D1F-BF1A0A48E577}"/>
              </a:ext>
            </a:extLst>
          </p:cNvPr>
          <p:cNvCxnSpPr>
            <a:cxnSpLocks/>
          </p:cNvCxnSpPr>
          <p:nvPr/>
        </p:nvCxnSpPr>
        <p:spPr>
          <a:xfrm>
            <a:off x="6400794" y="2608672"/>
            <a:ext cx="5598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B2B4703-9614-1C75-F8C6-A2FA621622C1}"/>
              </a:ext>
            </a:extLst>
          </p:cNvPr>
          <p:cNvCxnSpPr>
            <a:cxnSpLocks/>
          </p:cNvCxnSpPr>
          <p:nvPr/>
        </p:nvCxnSpPr>
        <p:spPr>
          <a:xfrm>
            <a:off x="6960632" y="2608672"/>
            <a:ext cx="0" cy="10232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A07D37-3E41-F493-114E-CBB8FA810085}"/>
              </a:ext>
            </a:extLst>
          </p:cNvPr>
          <p:cNvCxnSpPr>
            <a:cxnSpLocks/>
          </p:cNvCxnSpPr>
          <p:nvPr/>
        </p:nvCxnSpPr>
        <p:spPr>
          <a:xfrm>
            <a:off x="6969968" y="2608672"/>
            <a:ext cx="7184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A79B25B-CBE5-BF6E-45C9-9AB0618CC89C}"/>
              </a:ext>
            </a:extLst>
          </p:cNvPr>
          <p:cNvCxnSpPr>
            <a:cxnSpLocks/>
          </p:cNvCxnSpPr>
          <p:nvPr/>
        </p:nvCxnSpPr>
        <p:spPr>
          <a:xfrm>
            <a:off x="6969968" y="3631929"/>
            <a:ext cx="7184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5831CE-4D53-F7EF-F819-02EF0A9E121D}"/>
              </a:ext>
            </a:extLst>
          </p:cNvPr>
          <p:cNvCxnSpPr>
            <a:cxnSpLocks/>
          </p:cNvCxnSpPr>
          <p:nvPr/>
        </p:nvCxnSpPr>
        <p:spPr>
          <a:xfrm>
            <a:off x="6979303" y="3146360"/>
            <a:ext cx="7091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6B9DFB7-C7E1-BD16-7338-9B99E5A270DE}"/>
              </a:ext>
            </a:extLst>
          </p:cNvPr>
          <p:cNvSpPr/>
          <p:nvPr/>
        </p:nvSpPr>
        <p:spPr>
          <a:xfrm>
            <a:off x="7247555" y="5185227"/>
            <a:ext cx="4752784" cy="11689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Hospital Admission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81,588 (Discharged: 48,855, Admitted: 32,733 | 40.1% admitted)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Val: 11,770 (Discharged: 6,950, Admitted: 4,820 | 41.0% admitted)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12,020 (Discharged: 7,255 | Admitted: 4,765 | 39.6% admitted)</a:t>
            </a: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2FE2BDB-80BC-2462-3127-76D5F487B2C4}"/>
              </a:ext>
            </a:extLst>
          </p:cNvPr>
          <p:cNvSpPr/>
          <p:nvPr/>
        </p:nvSpPr>
        <p:spPr>
          <a:xfrm>
            <a:off x="7716430" y="2897649"/>
            <a:ext cx="4152106" cy="4596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imputation: 6 vital signs (Temp, HR, RR, SpO2, SBP, DBP)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A50515F-9FE6-A686-A8BA-64727FE9858C}"/>
              </a:ext>
            </a:extLst>
          </p:cNvPr>
          <p:cNvSpPr/>
          <p:nvPr/>
        </p:nvSpPr>
        <p:spPr>
          <a:xfrm>
            <a:off x="7697759" y="2451953"/>
            <a:ext cx="4152106" cy="3287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imputation: Triage </a:t>
            </a:r>
            <a:r>
              <a:rPr lang="fr-FR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acuity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 = 3)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4A6C53F-9057-4D62-F615-416369B9D741}"/>
              </a:ext>
            </a:extLst>
          </p:cNvPr>
          <p:cNvCxnSpPr>
            <a:cxnSpLocks/>
          </p:cNvCxnSpPr>
          <p:nvPr/>
        </p:nvCxnSpPr>
        <p:spPr>
          <a:xfrm>
            <a:off x="5122506" y="3014323"/>
            <a:ext cx="0" cy="756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6EFFCA4-C39A-54EB-8601-F8AD3E3DCB78}"/>
              </a:ext>
            </a:extLst>
          </p:cNvPr>
          <p:cNvCxnSpPr>
            <a:cxnSpLocks/>
          </p:cNvCxnSpPr>
          <p:nvPr/>
        </p:nvCxnSpPr>
        <p:spPr>
          <a:xfrm flipH="1">
            <a:off x="5122504" y="4886910"/>
            <a:ext cx="2" cy="544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81F3EE9-3A31-F1FA-4CCF-767630AF1D37}"/>
              </a:ext>
            </a:extLst>
          </p:cNvPr>
          <p:cNvSpPr/>
          <p:nvPr/>
        </p:nvSpPr>
        <p:spPr>
          <a:xfrm>
            <a:off x="7247555" y="3895338"/>
            <a:ext cx="4752780" cy="10264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ED-LOS ≥8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81,588 (&lt;8h: 66,067, ≥8: 15,521)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Val: 11,770 (&lt;8h: 9,502,  ≥8: 2,268)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12,020 (&lt;8h: 9,339 ≥8: 2,681)</a:t>
            </a: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6E0282A-07F5-3D5A-B41F-1F2BC9094050}"/>
              </a:ext>
            </a:extLst>
          </p:cNvPr>
          <p:cNvSpPr/>
          <p:nvPr/>
        </p:nvSpPr>
        <p:spPr>
          <a:xfrm>
            <a:off x="165009" y="4921819"/>
            <a:ext cx="3380239" cy="15712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Hosp-LOS &gt;7d (among admitted)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48,855 discharged patients (60.0%)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32,733 (≤7d: 27,317, &gt;7d: 5,416 -16.6%)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Val: 4,820 (≤7d: 3,913 , &gt;7d: 907 - 18.8%)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4,765 (≤7d: 3,827 ,  &gt;7d: 938 -19.7%)</a:t>
            </a: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F7DA91A-093D-4A7D-4628-ECDC68520FA6}"/>
              </a:ext>
            </a:extLst>
          </p:cNvPr>
          <p:cNvCxnSpPr>
            <a:cxnSpLocks/>
          </p:cNvCxnSpPr>
          <p:nvPr/>
        </p:nvCxnSpPr>
        <p:spPr>
          <a:xfrm>
            <a:off x="6410129" y="5769683"/>
            <a:ext cx="3514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0B37C3E-AA52-5B12-7845-CC05634BA28B}"/>
              </a:ext>
            </a:extLst>
          </p:cNvPr>
          <p:cNvCxnSpPr>
            <a:cxnSpLocks/>
          </p:cNvCxnSpPr>
          <p:nvPr/>
        </p:nvCxnSpPr>
        <p:spPr>
          <a:xfrm>
            <a:off x="6752253" y="4408578"/>
            <a:ext cx="0" cy="13611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DF41507-09BB-36BB-80C8-90494EED00C4}"/>
              </a:ext>
            </a:extLst>
          </p:cNvPr>
          <p:cNvCxnSpPr>
            <a:cxnSpLocks/>
          </p:cNvCxnSpPr>
          <p:nvPr/>
        </p:nvCxnSpPr>
        <p:spPr>
          <a:xfrm>
            <a:off x="6750311" y="4408578"/>
            <a:ext cx="504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0E0BC39-BD9F-1036-1C9F-0B73690E77ED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6742770" y="5769683"/>
            <a:ext cx="5047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3EE588D-92EF-DE18-AC12-AF73C3CF730E}"/>
              </a:ext>
            </a:extLst>
          </p:cNvPr>
          <p:cNvCxnSpPr>
            <a:cxnSpLocks/>
          </p:cNvCxnSpPr>
          <p:nvPr/>
        </p:nvCxnSpPr>
        <p:spPr>
          <a:xfrm flipH="1">
            <a:off x="3545248" y="5973282"/>
            <a:ext cx="253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47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9BA684-7EB9-562C-A252-5EAB7DAF5D37}"/>
              </a:ext>
            </a:extLst>
          </p:cNvPr>
          <p:cNvSpPr/>
          <p:nvPr/>
        </p:nvSpPr>
        <p:spPr>
          <a:xfrm>
            <a:off x="423376" y="3152285"/>
            <a:ext cx="11292374" cy="12224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9FFF649-3877-0925-4D98-0CBC1F3A5DD3}"/>
              </a:ext>
            </a:extLst>
          </p:cNvPr>
          <p:cNvSpPr/>
          <p:nvPr/>
        </p:nvSpPr>
        <p:spPr>
          <a:xfrm>
            <a:off x="412489" y="1320907"/>
            <a:ext cx="11292374" cy="15666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0F176B-DDA5-AF71-8C85-B5A9BAC73A72}"/>
              </a:ext>
            </a:extLst>
          </p:cNvPr>
          <p:cNvSpPr/>
          <p:nvPr/>
        </p:nvSpPr>
        <p:spPr>
          <a:xfrm>
            <a:off x="412490" y="111089"/>
            <a:ext cx="11292374" cy="9579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912B38-45BE-6F82-25EB-296B53C1B21D}"/>
              </a:ext>
            </a:extLst>
          </p:cNvPr>
          <p:cNvSpPr/>
          <p:nvPr/>
        </p:nvSpPr>
        <p:spPr>
          <a:xfrm>
            <a:off x="8132362" y="2042646"/>
            <a:ext cx="3415061" cy="381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CSN not in split files: 13,007 (11.0%)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D87DB2-20CD-40D2-EA7D-4EF28A83390C}"/>
              </a:ext>
            </a:extLst>
          </p:cNvPr>
          <p:cNvSpPr/>
          <p:nvPr/>
        </p:nvSpPr>
        <p:spPr>
          <a:xfrm>
            <a:off x="7873486" y="688714"/>
            <a:ext cx="1645300" cy="299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Split-chrono-val.csv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7683C5-ACF2-103F-5691-1420036E0072}"/>
              </a:ext>
            </a:extLst>
          </p:cNvPr>
          <p:cNvSpPr/>
          <p:nvPr/>
        </p:nvSpPr>
        <p:spPr>
          <a:xfrm>
            <a:off x="3060441" y="1440673"/>
            <a:ext cx="6018244" cy="4414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2: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Chronological Split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F2976C-A801-DDCC-0072-364A1793D269}"/>
              </a:ext>
            </a:extLst>
          </p:cNvPr>
          <p:cNvSpPr/>
          <p:nvPr/>
        </p:nvSpPr>
        <p:spPr>
          <a:xfrm>
            <a:off x="2429058" y="688714"/>
            <a:ext cx="1645300" cy="307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pmh.csv (N=755,341)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E4808C-08A3-65E5-E0AB-287134A2BF04}"/>
              </a:ext>
            </a:extLst>
          </p:cNvPr>
          <p:cNvSpPr/>
          <p:nvPr/>
        </p:nvSpPr>
        <p:spPr>
          <a:xfrm>
            <a:off x="6058677" y="680743"/>
            <a:ext cx="1645300" cy="307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Split-chrono-train.csv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3D7336-C08F-2F2E-088B-A4CB36EC595F}"/>
              </a:ext>
            </a:extLst>
          </p:cNvPr>
          <p:cNvSpPr/>
          <p:nvPr/>
        </p:nvSpPr>
        <p:spPr>
          <a:xfrm>
            <a:off x="9688295" y="688714"/>
            <a:ext cx="1645300" cy="299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Split-chrono-test.csv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716E00-2FAB-EAA4-C9F5-408AC8B8BD9D}"/>
              </a:ext>
            </a:extLst>
          </p:cNvPr>
          <p:cNvSpPr/>
          <p:nvPr/>
        </p:nvSpPr>
        <p:spPr>
          <a:xfrm>
            <a:off x="4243867" y="680745"/>
            <a:ext cx="1645301" cy="2991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meds.csv (N=235,718)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81F0FB-67B3-411A-663C-7349EA5180B0}"/>
              </a:ext>
            </a:extLst>
          </p:cNvPr>
          <p:cNvSpPr/>
          <p:nvPr/>
        </p:nvSpPr>
        <p:spPr>
          <a:xfrm>
            <a:off x="611143" y="688715"/>
            <a:ext cx="1645300" cy="3071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visits.csv (N=118,385)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98A0E0-C9C3-C481-5E27-79253C8CA48C}"/>
              </a:ext>
            </a:extLst>
          </p:cNvPr>
          <p:cNvSpPr/>
          <p:nvPr/>
        </p:nvSpPr>
        <p:spPr>
          <a:xfrm>
            <a:off x="2707425" y="194191"/>
            <a:ext cx="6817568" cy="4167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1: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Data: MC-MED Dataset, 118,385 Adult ED Visits Between 2020-2022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890B87-5471-2932-FA85-E94552240459}"/>
              </a:ext>
            </a:extLst>
          </p:cNvPr>
          <p:cNvSpPr/>
          <p:nvPr/>
        </p:nvSpPr>
        <p:spPr>
          <a:xfrm>
            <a:off x="5305992" y="2590967"/>
            <a:ext cx="2687224" cy="2245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11,770 (11%)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FC3697-F856-D96D-BD7A-0DB100A17D5B}"/>
              </a:ext>
            </a:extLst>
          </p:cNvPr>
          <p:cNvSpPr/>
          <p:nvPr/>
        </p:nvSpPr>
        <p:spPr>
          <a:xfrm>
            <a:off x="8298016" y="2611227"/>
            <a:ext cx="2828724" cy="2043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12,020 (11%)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369260-BD23-9BEC-E042-5D72FF21C970}"/>
              </a:ext>
            </a:extLst>
          </p:cNvPr>
          <p:cNvSpPr/>
          <p:nvPr/>
        </p:nvSpPr>
        <p:spPr>
          <a:xfrm>
            <a:off x="569931" y="2042645"/>
            <a:ext cx="4588336" cy="381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visits.csv by CSN → Match CSN in pmh.csv and meds.csv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B8A576-54BE-71B6-75C6-36A83BD5D2F5}"/>
              </a:ext>
            </a:extLst>
          </p:cNvPr>
          <p:cNvSpPr/>
          <p:nvPr/>
        </p:nvSpPr>
        <p:spPr>
          <a:xfrm>
            <a:off x="5315707" y="2063735"/>
            <a:ext cx="2659215" cy="3599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Split: 105,378 records (89.0%)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CFEB6E-01D3-2A7B-941E-95922832958E}"/>
              </a:ext>
            </a:extLst>
          </p:cNvPr>
          <p:cNvSpPr/>
          <p:nvPr/>
        </p:nvSpPr>
        <p:spPr>
          <a:xfrm>
            <a:off x="2429057" y="3208392"/>
            <a:ext cx="6649627" cy="4973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3: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Pipeline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0F0D39-52B9-1411-C011-45FBF94A30D6}"/>
              </a:ext>
            </a:extLst>
          </p:cNvPr>
          <p:cNvSpPr/>
          <p:nvPr/>
        </p:nvSpPr>
        <p:spPr>
          <a:xfrm>
            <a:off x="2501780" y="2604431"/>
            <a:ext cx="2443436" cy="231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81,588 (78%)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D62EC8-539C-6772-F1F0-385895596D02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flipH="1">
            <a:off x="6058676" y="1069033"/>
            <a:ext cx="1" cy="251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1DA5997-A5D9-9C1E-7A8F-AABF324FEA25}"/>
              </a:ext>
            </a:extLst>
          </p:cNvPr>
          <p:cNvSpPr/>
          <p:nvPr/>
        </p:nvSpPr>
        <p:spPr>
          <a:xfrm>
            <a:off x="9706086" y="3791136"/>
            <a:ext cx="1998777" cy="4904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Prevention by removing the targets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E28A807-10F1-26CB-D2BE-76B9A4D31F59}"/>
              </a:ext>
            </a:extLst>
          </p:cNvPr>
          <p:cNvSpPr/>
          <p:nvPr/>
        </p:nvSpPr>
        <p:spPr>
          <a:xfrm>
            <a:off x="423376" y="4635242"/>
            <a:ext cx="11292373" cy="21914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90A090B-713F-8856-320F-860A3E01F4D5}"/>
              </a:ext>
            </a:extLst>
          </p:cNvPr>
          <p:cNvSpPr/>
          <p:nvPr/>
        </p:nvSpPr>
        <p:spPr>
          <a:xfrm>
            <a:off x="3519009" y="5199662"/>
            <a:ext cx="4641590" cy="15472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81,588 (Discharged: 48,855, Admitted: 32,733 | 40.1% admitted)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Val: 11,770 (Discharged: 6,950, Admitted: 4,820 | 41.0% admitted)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12,020 (Discharged: 7,255 | Admitted: 4,765 | 39.6% admitted)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AAD85B5-8CA0-E199-D1A3-4453F4E188B1}"/>
              </a:ext>
            </a:extLst>
          </p:cNvPr>
          <p:cNvSpPr/>
          <p:nvPr/>
        </p:nvSpPr>
        <p:spPr>
          <a:xfrm>
            <a:off x="5163672" y="3804469"/>
            <a:ext cx="4437498" cy="4904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Imputation: Continuous (Median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&lt;5%</a:t>
            </a: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Categorical (Mode &lt;1%), Triage vials (MICE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(&lt;3%</a:t>
            </a: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A0C3CC3-B22D-F4AB-BEC8-7F84598D80C6}"/>
              </a:ext>
            </a:extLst>
          </p:cNvPr>
          <p:cNvSpPr/>
          <p:nvPr/>
        </p:nvSpPr>
        <p:spPr>
          <a:xfrm>
            <a:off x="2366855" y="4707518"/>
            <a:ext cx="6300896" cy="3292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4: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 Prediction Tasks</a:t>
            </a:r>
          </a:p>
          <a:p>
            <a:pPr algn="ctr"/>
            <a:endParaRPr lang="en-US" sz="12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BD1C519-7C6A-8FCC-5C28-4AC9B9FA429D}"/>
              </a:ext>
            </a:extLst>
          </p:cNvPr>
          <p:cNvSpPr/>
          <p:nvPr/>
        </p:nvSpPr>
        <p:spPr>
          <a:xfrm>
            <a:off x="2429057" y="3804470"/>
            <a:ext cx="2668597" cy="4973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(29 features from visits, meds,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pmh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6434DF-B35B-E5C5-2D4B-EC49239589BA}"/>
              </a:ext>
            </a:extLst>
          </p:cNvPr>
          <p:cNvSpPr/>
          <p:nvPr/>
        </p:nvSpPr>
        <p:spPr>
          <a:xfrm>
            <a:off x="572255" y="3815604"/>
            <a:ext cx="1794599" cy="4968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Integration by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merging on CSN/MRN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4E610C7-3C78-DF5D-C322-52A93F465E66}"/>
              </a:ext>
            </a:extLst>
          </p:cNvPr>
          <p:cNvSpPr/>
          <p:nvPr/>
        </p:nvSpPr>
        <p:spPr>
          <a:xfrm>
            <a:off x="8298016" y="5176955"/>
            <a:ext cx="3324052" cy="15699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48,855 discharged patients (60.0%)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32,733 (≤7d: 27,317, &gt;7d: 5,416 -16.6%)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Val: 4,820 (≤7d: 3,913 , &gt;7d: 907 - 18.8%)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4,765 (≤7d: 3,827 ,  &gt;7d: 938 -19.7%)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5A691BA-8007-2666-F6C6-B5B43278C4A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158267" y="2232411"/>
            <a:ext cx="157440" cy="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51D3923-5C1E-A231-53E3-3507ED53C130}"/>
              </a:ext>
            </a:extLst>
          </p:cNvPr>
          <p:cNvCxnSpPr>
            <a:cxnSpLocks/>
            <a:stCxn id="17" idx="2"/>
            <a:endCxn id="14" idx="0"/>
          </p:cNvCxnSpPr>
          <p:nvPr/>
        </p:nvCxnSpPr>
        <p:spPr>
          <a:xfrm>
            <a:off x="6645315" y="2423647"/>
            <a:ext cx="4289" cy="167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353699C-2A95-6437-0D60-168BE39D168B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4945216" y="2400466"/>
            <a:ext cx="397708" cy="31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7257DF8-84EB-039C-F3ED-0601AE863A17}"/>
              </a:ext>
            </a:extLst>
          </p:cNvPr>
          <p:cNvCxnSpPr>
            <a:cxnSpLocks/>
          </p:cNvCxnSpPr>
          <p:nvPr/>
        </p:nvCxnSpPr>
        <p:spPr>
          <a:xfrm>
            <a:off x="7951995" y="2395430"/>
            <a:ext cx="362896" cy="359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E93E3E0-7A4F-DAA6-145D-7C84E05A5BB8}"/>
              </a:ext>
            </a:extLst>
          </p:cNvPr>
          <p:cNvCxnSpPr>
            <a:cxnSpLocks/>
            <a:stCxn id="19" idx="2"/>
            <a:endCxn id="9" idx="0"/>
          </p:cNvCxnSpPr>
          <p:nvPr/>
        </p:nvCxnSpPr>
        <p:spPr>
          <a:xfrm>
            <a:off x="6058676" y="2887578"/>
            <a:ext cx="10887" cy="264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86EEF54D-1527-4DB1-8EA5-6EA67C5303DD}"/>
              </a:ext>
            </a:extLst>
          </p:cNvPr>
          <p:cNvSpPr/>
          <p:nvPr/>
        </p:nvSpPr>
        <p:spPr>
          <a:xfrm>
            <a:off x="611143" y="3909527"/>
            <a:ext cx="200620" cy="185776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8890911F-299A-41E1-5821-FE2B4FD61A43}"/>
              </a:ext>
            </a:extLst>
          </p:cNvPr>
          <p:cNvSpPr/>
          <p:nvPr/>
        </p:nvSpPr>
        <p:spPr>
          <a:xfrm>
            <a:off x="2522154" y="3865704"/>
            <a:ext cx="200620" cy="185776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5892E1C6-62A0-1B7C-567C-A334F18EA436}"/>
              </a:ext>
            </a:extLst>
          </p:cNvPr>
          <p:cNvSpPr/>
          <p:nvPr/>
        </p:nvSpPr>
        <p:spPr>
          <a:xfrm>
            <a:off x="5202570" y="3847156"/>
            <a:ext cx="200620" cy="185776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88226367-91D2-1A9D-8917-CDEB9A68EFFB}"/>
              </a:ext>
            </a:extLst>
          </p:cNvPr>
          <p:cNvSpPr/>
          <p:nvPr/>
        </p:nvSpPr>
        <p:spPr>
          <a:xfrm>
            <a:off x="9706086" y="3847156"/>
            <a:ext cx="200620" cy="185776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BF7F41A-30B1-EDE1-7287-5492D05E37D0}"/>
              </a:ext>
            </a:extLst>
          </p:cNvPr>
          <p:cNvSpPr/>
          <p:nvPr/>
        </p:nvSpPr>
        <p:spPr>
          <a:xfrm>
            <a:off x="569932" y="5199662"/>
            <a:ext cx="2811444" cy="15472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81,588 (&lt;8h: 66,067, ≥8: 15,521)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Val: 11,770 (&lt;8h: 9,502,  ≥8: 2,268)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12,020 (&lt;8h: 9,339 ≥8: 2,681)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1A1BE29-E7EC-47FF-109A-E047DCE73798}"/>
              </a:ext>
            </a:extLst>
          </p:cNvPr>
          <p:cNvCxnSpPr>
            <a:cxnSpLocks/>
          </p:cNvCxnSpPr>
          <p:nvPr/>
        </p:nvCxnSpPr>
        <p:spPr>
          <a:xfrm flipH="1">
            <a:off x="6096000" y="4383367"/>
            <a:ext cx="1" cy="251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CF42422-BF37-0CDE-AA7C-45C60FB23222}"/>
              </a:ext>
            </a:extLst>
          </p:cNvPr>
          <p:cNvSpPr/>
          <p:nvPr/>
        </p:nvSpPr>
        <p:spPr>
          <a:xfrm>
            <a:off x="711453" y="5278260"/>
            <a:ext cx="2546097" cy="4748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ED-LOS ≥8h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F0AADB7-B394-A303-5606-B3DF1A9B9469}"/>
              </a:ext>
            </a:extLst>
          </p:cNvPr>
          <p:cNvSpPr/>
          <p:nvPr/>
        </p:nvSpPr>
        <p:spPr>
          <a:xfrm>
            <a:off x="3622352" y="5239257"/>
            <a:ext cx="4370863" cy="4748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(Hospital Admission)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242DAD0-A12A-5BF1-1673-7A5026FFB76E}"/>
              </a:ext>
            </a:extLst>
          </p:cNvPr>
          <p:cNvSpPr/>
          <p:nvPr/>
        </p:nvSpPr>
        <p:spPr>
          <a:xfrm>
            <a:off x="8518595" y="5256147"/>
            <a:ext cx="2961952" cy="4579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(Hosp-LOS &gt;7d)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0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6278</TotalTime>
  <Words>598</Words>
  <Application>Microsoft Office PowerPoint</Application>
  <PresentationFormat>Widescreen</PresentationFormat>
  <Paragraphs>70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ONYEDIKACHI ONWURAH</dc:creator>
  <cp:lastModifiedBy>ONYEDIKACHI ONWURAH</cp:lastModifiedBy>
  <cp:revision>6</cp:revision>
  <dcterms:created xsi:type="dcterms:W3CDTF">2026-05-25T11:03:49Z</dcterms:created>
  <dcterms:modified xsi:type="dcterms:W3CDTF">2026-06-05T08:25:03Z</dcterms:modified>
</cp:coreProperties>
</file>